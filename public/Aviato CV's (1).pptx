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3"/>
  </p:notesMasterIdLst>
  <p:sldIdLst>
    <p:sldId id="330" r:id="rId2"/>
  </p:sldIdLst>
  <p:sldSz cx="18288000" cy="10287000"/>
  <p:notesSz cx="6858000" cy="9144000"/>
  <p:embeddedFontLst>
    <p:embeddedFont>
      <p:font typeface="Aptos Slab" panose="020B0004020202020204" pitchFamily="34" charset="0"/>
      <p:regular r:id="rId4"/>
      <p:bold r:id="rId5"/>
      <p:italic r:id="rId6"/>
      <p:boldItalic r:id="rId7"/>
    </p:embeddedFont>
    <p:embeddedFont>
      <p:font typeface="Google Sans" panose="020B0604020202020204" charset="0"/>
      <p:regular r:id="rId8"/>
      <p:bold r:id="rId9"/>
      <p:italic r:id="rId10"/>
      <p:boldItalic r:id="rId11"/>
    </p:embeddedFont>
    <p:embeddedFont>
      <p:font typeface="Montserrat" panose="000005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en King" initials="" lastIdx="1" clrIdx="0"/>
  <p:cmAuthor id="1" name="Jarrad Berry" initials="" lastIdx="2" clrIdx="1"/>
  <p:cmAuthor id="2" name="Mark Sukumaran" initials="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500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e762f34e84_14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3e762f34e84_14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b275643b2_31_0)">
  <p:cSld name="Generated (g3eb275643b2_31_0)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00"/>
          <p:cNvSpPr/>
          <p:nvPr/>
        </p:nvSpPr>
        <p:spPr>
          <a:xfrm>
            <a:off x="177350" y="0"/>
            <a:ext cx="18288000" cy="10287000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100"/>
          <p:cNvSpPr/>
          <p:nvPr/>
        </p:nvSpPr>
        <p:spPr>
          <a:xfrm>
            <a:off x="0" y="0"/>
            <a:ext cx="18438000" cy="11310900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100"/>
          <p:cNvSpPr/>
          <p:nvPr/>
        </p:nvSpPr>
        <p:spPr>
          <a:xfrm>
            <a:off x="13365000" y="126625"/>
            <a:ext cx="5073000" cy="11057652"/>
          </a:xfrm>
          <a:custGeom>
            <a:avLst/>
            <a:gdLst/>
            <a:ahLst/>
            <a:cxnLst/>
            <a:rect l="l" t="t" r="r" b="b"/>
            <a:pathLst>
              <a:path w="2999100" h="868800" extrusionOk="0">
                <a:moveTo>
                  <a:pt x="9518" y="0"/>
                </a:moveTo>
                <a:lnTo>
                  <a:pt x="2989581" y="0"/>
                </a:lnTo>
                <a:cubicBezTo>
                  <a:pt x="2992106" y="0"/>
                  <a:pt x="2994527" y="1003"/>
                  <a:pt x="2996312" y="2788"/>
                </a:cubicBezTo>
                <a:cubicBezTo>
                  <a:pt x="2998097" y="4573"/>
                  <a:pt x="2999100" y="6994"/>
                  <a:pt x="2999100" y="9518"/>
                </a:cubicBezTo>
                <a:lnTo>
                  <a:pt x="2999100" y="859282"/>
                </a:lnTo>
                <a:cubicBezTo>
                  <a:pt x="2999100" y="861806"/>
                  <a:pt x="2998097" y="864227"/>
                  <a:pt x="2996312" y="866012"/>
                </a:cubicBezTo>
                <a:cubicBezTo>
                  <a:pt x="2994527" y="867797"/>
                  <a:pt x="2992106" y="868800"/>
                  <a:pt x="2989581" y="868800"/>
                </a:cubicBezTo>
                <a:lnTo>
                  <a:pt x="9518" y="868800"/>
                </a:lnTo>
                <a:cubicBezTo>
                  <a:pt x="4261" y="868800"/>
                  <a:pt x="0" y="864538"/>
                  <a:pt x="0" y="859282"/>
                </a:cubicBezTo>
                <a:lnTo>
                  <a:pt x="0" y="9518"/>
                </a:lnTo>
                <a:cubicBezTo>
                  <a:pt x="0" y="6994"/>
                  <a:pt x="1003" y="4573"/>
                  <a:pt x="2788" y="2788"/>
                </a:cubicBezTo>
                <a:cubicBezTo>
                  <a:pt x="4573" y="1003"/>
                  <a:pt x="6994" y="0"/>
                  <a:pt x="951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93" name="Google Shape;993;p100"/>
          <p:cNvSpPr txBox="1"/>
          <p:nvPr/>
        </p:nvSpPr>
        <p:spPr>
          <a:xfrm>
            <a:off x="13454050" y="452700"/>
            <a:ext cx="4592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Pathan Afnan Khan</a:t>
            </a:r>
            <a:endParaRPr sz="30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4" name="Google Shape;994;p100"/>
          <p:cNvSpPr txBox="1"/>
          <p:nvPr/>
        </p:nvSpPr>
        <p:spPr>
          <a:xfrm>
            <a:off x="90575" y="1419600"/>
            <a:ext cx="8685900" cy="91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Relevant Experience</a:t>
            </a:r>
            <a:endParaRPr sz="15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Agentic AI Specialist | </a:t>
            </a:r>
            <a:r>
              <a:rPr lang="en-US" sz="12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DeliverHealth</a:t>
            </a:r>
            <a:endParaRPr sz="12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Healthcare AI Initiative: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Collaborated with consulting and Google Cloud teams to deliver a Population Health AI (PHAI) initiative, enhancing healthcare analytics, population segmentation, and AI-driven decision-making for regional healthcare datasets.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Feature Engineering &amp; Data Strategy: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Designed and consolidated a modelling-ready healthcare feature store in </a:t>
            </a:r>
            <a:r>
              <a:rPr lang="en-US" sz="11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BigQuery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by integrating diverse datasets (demographic, clinical, engagement, risk-based); performed dataset migration, severity classification, and categorical field validation across hospital episode records.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Pipeline Development: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Engineered a clinical burden master table for population health stratification; defined feature metadata and analytical lenses. Contributed to the Autoencoder → Clustering → Insights pipeline utilizing Google Cloud Platform (</a:t>
            </a:r>
            <a:r>
              <a:rPr lang="en-US" sz="11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BigQuery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Vertex AI, Cloud Run) within an Agile framework.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Lead Data Scientist | GWEN AI</a:t>
            </a:r>
            <a:endParaRPr sz="12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System Architecture: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Architected production-grade AI systems using GPT-4, Claude, and OpenAI APIs, achieving a 40% reduction in data processing time and a 35% decrease in LLM inference costs.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Agentic AI &amp; RAG: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Designed and deployed autonomous Agentic AI systems and RAG pipelines (</a:t>
            </a:r>
            <a:r>
              <a:rPr lang="en-US" sz="11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LangChain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1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LlamaIndex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Pinecone, </a:t>
            </a:r>
            <a:r>
              <a:rPr lang="en-US" sz="11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ChromaDB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), reaching ~85% accuracy on domain-specific queries.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ML/DL Lifecycle: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Developed end-to-end models and scalable pipelines from ingestion to production using </a:t>
            </a:r>
            <a:r>
              <a:rPr lang="en-US" sz="11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PyTorch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TensorFlow, and scikit-learn.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Microservices &amp; </a:t>
            </a:r>
            <a:r>
              <a:rPr lang="en-US" sz="11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MLOps</a:t>
            </a:r>
            <a:r>
              <a:rPr lang="en-US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Engineered API-first microservices (</a:t>
            </a:r>
            <a:r>
              <a:rPr lang="en-US" sz="11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FastAPI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REST) supporting 10,000+ daily requests (&lt;200ms latency). Implemented robust </a:t>
            </a:r>
            <a:r>
              <a:rPr lang="en-US" sz="11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MLOps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(CI/CD, </a:t>
            </a:r>
            <a:r>
              <a:rPr lang="en-US" sz="11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MLflow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Prometheus/Grafana) on Docker, Kubernetes, and AWS to maintain 99.5%+ uptime.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Optimization: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Orchestrated workflows via Apache Airflow; optimized LLM performance and cost via advanced prompt engineering, fine-tuning, and intelligent routing.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Science Intern | Boston Consulting Group (BCG)</a:t>
            </a:r>
            <a:endParaRPr sz="12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Predictive Modeling: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Improved forecast accuracy by 20% through the development of time-series models (LSTM, RNN) using Python.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Automation: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Reduced manual reporting efforts by 60% by building integrated KPI dashboards in Tableau and Power BI.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Collaboration: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Delivered actionable, data-driven insights in close coordination with cross-functional teams to support C-suite decision-making.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AI Engineer Intern | Cognizant</a:t>
            </a:r>
            <a:endParaRPr sz="12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Performance Optimization: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Reduced model inference latency by 35% using pruning, quantization, and performance tuning.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 Automation: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Increased efficiency by 25% by deploying NLP classification models (BERT/Transformers) for enterprise automation.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Scalable Engineering: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Built scalable ML systems and reporting workflows using Python and SQL to improve pipeline reliability.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Analytics Intern | PricewaterhouseCoopers (PwC)</a:t>
            </a:r>
            <a:endParaRPr sz="12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Predictive Modeling: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Improved risk model accuracy by ~20% using Python and SQL on large-scale financial datasets.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Automation: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Reduced reporting time by 40% through the creation of interactive Tableau dashboards, facilitating real-time insights for senior stakeholders.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5" name="Google Shape;995;p100"/>
          <p:cNvSpPr txBox="1"/>
          <p:nvPr/>
        </p:nvSpPr>
        <p:spPr>
          <a:xfrm>
            <a:off x="8776475" y="1419600"/>
            <a:ext cx="4592700" cy="85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Key Achievements</a:t>
            </a:r>
            <a:endParaRPr sz="16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-US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Microsoft Global Hackathon (2023):- </a:t>
            </a:r>
            <a:r>
              <a:rPr lang="en-US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Runner-Up:</a:t>
            </a: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Recognised among the top global participants in Microsoft's worldwide innovation challenge.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-US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Microsoft India Hackathon (2022):- </a:t>
            </a:r>
            <a:r>
              <a:rPr lang="en-US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Winner:</a:t>
            </a: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Secured first place for innovative solution design.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-US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Odyssey of the Mind (2024):- </a:t>
            </a:r>
            <a:r>
              <a:rPr lang="en-US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3rd Place:</a:t>
            </a: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Achieved a podium finish in an international creative problem-solving tournament.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-US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Lockheed Martin (USA) :- 2025, </a:t>
            </a:r>
            <a:r>
              <a:rPr lang="en-US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Direct Job Offer:</a:t>
            </a: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Received an unsolicited offer to contribute AI integration for F-35 Fighter Jet and B-2 Bomber defense programs; declined to maintain focus on healthcare and enterprise AI engagements.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-US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TikTok :-(2025-25), </a:t>
            </a:r>
            <a:r>
              <a:rPr lang="en-US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Freelance AI Consultant:</a:t>
            </a: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Contributed to video recommendation algorithm improvements, delivering enhancements to personalization and content discovery systems.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Qualification</a:t>
            </a: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Bachelor of Technology (B.Tech) in Computer Science &amp; Engineering (Specialization in Artificial Intelligence and Machine Learning).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Master of Business Administration in Finance:- Pursuing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52+ Professional Certifications:- spanning AI/ML, Cloud, and Data Science from Google, Microsoft, IBM, Udemy, Skillsoft, Great Learning, edX, and other leading platforms.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16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Languages &amp; Tools :- Python, SQL, BigQuery, R (Basic), FastAPI, HTML/CSS, Git, Bitbucket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AI &amp; ML:- Machine Learning, Deep Learning, NLP, LLMs, Prompt Engineering, RAG, Agentic AI, Clustering, Embeddings, LangChain, LangGraph, CrewAI, AutoGen, OpenAI, Claude, Gemini, Hugging Face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Cloud &amp; Data:- Google Cloud Platform, BigQuery, Vertex AI, Cloud Run, Power BI, Pandas, NumPy, Scikit-learn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Automation &amp; Low-Code:- Microsoft Copilot Studio, Power Automate, n8n, Zapier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Tools &amp; Methodology:- Jira, Agile, Scrum, Jupyter, VS Code, Microsoft Office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6" name="Google Shape;996;p100"/>
          <p:cNvSpPr txBox="1"/>
          <p:nvPr/>
        </p:nvSpPr>
        <p:spPr>
          <a:xfrm>
            <a:off x="13417725" y="1269600"/>
            <a:ext cx="5020275" cy="9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Scientist &amp; AI Engineer with 3.5+ years of </a:t>
            </a:r>
            <a:endParaRPr sz="19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experience designing, building, and deploying </a:t>
            </a:r>
            <a:endParaRPr sz="19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scalable, production-grade AI systems across Machine Learning, Deep Learning, and Generative AI domains. Demonstrated expertise in Large Language Models (LLMs), Retrieval-Augmented Generation (RAG), Agentic AI, and intelligent automation, with hands-on experience delivering end-to-end AI pipelines on Google Cloud Platform (</a:t>
            </a:r>
            <a:r>
              <a:rPr lang="en-US" sz="19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BigQuery</a:t>
            </a:r>
            <a:r>
              <a:rPr lang="en-US" sz="19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Vertex AI, Cloud Run).</a:t>
            </a:r>
            <a:r>
              <a:rPr lang="en-US" sz="19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Recognised</a:t>
            </a:r>
            <a:r>
              <a:rPr lang="en-US" sz="19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among top global AI engineers — Runner-Up at Microsoft Global Hackathon 2023, direct job offer from Lockheed Martin USA for F-35 and B-2 </a:t>
            </a:r>
            <a:r>
              <a:rPr lang="en-US" sz="19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defence</a:t>
            </a:r>
            <a:r>
              <a:rPr lang="en-US" sz="19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AI programs, and freelance AI consulting for TikTok's video recommendation systems. Currently contributing to the Population Health AI (PHAI) initiative at </a:t>
            </a:r>
            <a:r>
              <a:rPr lang="en-US" sz="19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Aviato</a:t>
            </a:r>
            <a:r>
              <a:rPr lang="en-US" sz="19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Consulting in collaboration with Google Cloud, delivering healthcare analytics, clinical data engineering, and AI-driven population health insights. Proficient in </a:t>
            </a:r>
            <a:r>
              <a:rPr lang="en-US" sz="19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MLOps</a:t>
            </a:r>
            <a:r>
              <a:rPr lang="en-US" sz="19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CI/CD, model monitoring, and cloud-native system design across AWS, GCP, and Azure. Skilled in bridging data engineering, model development, and system architecture to deliver high-impact, reliable AI solutions across healthcare, </a:t>
            </a:r>
            <a:r>
              <a:rPr lang="en-US" sz="19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defence</a:t>
            </a:r>
            <a:r>
              <a:rPr lang="en-US" sz="19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and enterprise domains.</a:t>
            </a:r>
            <a:endParaRPr sz="19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6335F3-EF1C-4311-1FB9-85ED4E14BF81}"/>
              </a:ext>
            </a:extLst>
          </p:cNvPr>
          <p:cNvSpPr txBox="1"/>
          <p:nvPr/>
        </p:nvSpPr>
        <p:spPr>
          <a:xfrm>
            <a:off x="341194" y="600501"/>
            <a:ext cx="10399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ptos Slab" panose="020F0502020204030204" pitchFamily="34" charset="0"/>
              </a:rPr>
              <a:t>Pathan Afnan Khan - </a:t>
            </a:r>
            <a:r>
              <a:rPr lang="en-US" sz="1800" b="1" dirty="0">
                <a:latin typeface="Aptos Slab" panose="020F0502020204030204" pitchFamily="34" charset="0"/>
              </a:rPr>
              <a:t>Agentic AI Specialist, Data Scientist, AI&amp;ML Engineer, Tech Legend.</a:t>
            </a:r>
            <a:endParaRPr lang="en-IN" sz="1800" b="1" dirty="0">
              <a:latin typeface="Aptos Slab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1026</Words>
  <Application>Microsoft Office PowerPoint</Application>
  <PresentationFormat>Custom</PresentationFormat>
  <Paragraphs>47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 Slab</vt:lpstr>
      <vt:lpstr>Calibri</vt:lpstr>
      <vt:lpstr>Arial</vt:lpstr>
      <vt:lpstr>Google Sans</vt:lpstr>
      <vt:lpstr>Montserrat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Afnankhan Anwarkhan Pathan</cp:lastModifiedBy>
  <cp:revision>1</cp:revision>
  <dcterms:modified xsi:type="dcterms:W3CDTF">2026-06-04T08:59:23Z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a37c973-fada-411a-af9a-8030b5e08269_Enabled">
    <vt:lpwstr>true</vt:lpwstr>
  </property>
  <property fmtid="{D5CDD505-2E9C-101B-9397-08002B2CF9AE}" pid="3" name="MSIP_Label_4a37c973-fada-411a-af9a-8030b5e08269_SetDate">
    <vt:lpwstr>2026-06-04T08:59:23Z</vt:lpwstr>
  </property>
  <property fmtid="{D5CDD505-2E9C-101B-9397-08002B2CF9AE}" pid="4" name="MSIP_Label_4a37c973-fada-411a-af9a-8030b5e08269_Method">
    <vt:lpwstr>Standard</vt:lpwstr>
  </property>
  <property fmtid="{D5CDD505-2E9C-101B-9397-08002B2CF9AE}" pid="5" name="MSIP_Label_4a37c973-fada-411a-af9a-8030b5e08269_Name">
    <vt:lpwstr>General</vt:lpwstr>
  </property>
  <property fmtid="{D5CDD505-2E9C-101B-9397-08002B2CF9AE}" pid="6" name="MSIP_Label_4a37c973-fada-411a-af9a-8030b5e08269_SiteId">
    <vt:lpwstr>409bccb8-d0a1-4020-9c6e-4a756f52ee53</vt:lpwstr>
  </property>
  <property fmtid="{D5CDD505-2E9C-101B-9397-08002B2CF9AE}" pid="7" name="MSIP_Label_4a37c973-fada-411a-af9a-8030b5e08269_ActionId">
    <vt:lpwstr>5965af31-0203-485b-85ca-5e4c346a6977</vt:lpwstr>
  </property>
  <property fmtid="{D5CDD505-2E9C-101B-9397-08002B2CF9AE}" pid="8" name="MSIP_Label_4a37c973-fada-411a-af9a-8030b5e08269_ContentBits">
    <vt:lpwstr>0</vt:lpwstr>
  </property>
  <property fmtid="{D5CDD505-2E9C-101B-9397-08002B2CF9AE}" pid="9" name="MSIP_Label_4a37c973-fada-411a-af9a-8030b5e08269_Tag">
    <vt:lpwstr>10, 3, 0, 1</vt:lpwstr>
  </property>
</Properties>
</file>